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0EA5E9"/>
                </a:solidFill>
              </a:defRPr>
            </a:pPr>
            <a:r>
              <a:t>🛡️ CENTINELA-AI</a:t>
            </a:r>
          </a:p>
          <a:p>
            <a:pPr algn="ctr">
              <a:defRPr sz="2200" b="1">
                <a:solidFill>
                  <a:srgbClr val="F8FAFC"/>
                </a:solidFill>
              </a:defRPr>
            </a:pPr>
            <a:r>
              <a:t>Arquitectura Omni-XDR, Gobernanza de IA &amp; SOAR 2.0</a:t>
            </a:r>
          </a:p>
          <a:p>
            <a:br/>
            <a:pPr algn="ctr">
              <a:defRPr sz="1600">
                <a:solidFill>
                  <a:srgbClr val="94A3B8"/>
                </a:solidFill>
              </a:defRPr>
            </a:pPr>
            <a:r>
              <a:t>Presentación Técnica y Ejecutiva de Profundidad (Basada en el Manual Técnico)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1. Resumen Ejecutivo y Origen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¿Por qué se desarrolló Centinela-AI?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Fragmentación de Herramientas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Tool Sprawl con 10-15 soluciones desconectadas genera silos de información, sobrecarga operativa (alert fatigue) y costos insostenibles.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Riesgos de IA (OWASP LLM Top 10)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El uso creciente de LLMs expone vectores no tradicionales: Prompt Injection, fuga de PII y ejecución de código no sandboxeado.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Brecha de Remediación (MTTR)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La detección toma minutos pero la remediación semanas. Centinela elimina esta brecha con parches automáticos y supervisión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2. Propósito y Finalidad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¿Para qué sirve Centinela-AI en la organización?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🎯 Visibilidad Omnidireccional 360°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Centro neurálgico de ciberseguridad que audita activos físicos, virtuales, código fuente en GitLab, contenedores y endpoints de 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⚡ Operación Defensiva Autónoma (SOAR)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Respuesta automatizada ante incidentes con control estricto del usuario (Human-in-the-Loop) para mitigar amenazas en milisegundos.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📜 Mapeo Normativo Continuo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Traducción automática de hallazgos técnicos a requisitos de ISO 27001, NIST SP 800-53, PCI-DSS v4.0, SOC 2 y GDPR.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3. Cobertura de Seguridad (6 Pilares)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audita el sistema?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1. SAST &amp; Clean Code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Motor AST nativo + Semgrep (SQLi, CMD Injection, SSRF, Secretos, ISO 25010).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2. SCA &amp; Dependencias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Escaneo de paquetes npm/pip en vivo contra OSV.dev con análisis de alcanzabilidad.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3. Hardening &amp; IaC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Checkov (Terraform/K8s), Dockerfiles no-root y CIS Benchmarks Linux SSH.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4. Gobernanza de IA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OWASP LLM Top 10 via Medusa-Security (Prompt Injection, fuga de PII).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5. Monitoreo Runtime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Wazuh EDR, Zeek NDR (conn.log), eBPF Tracing, Authentik ITDR.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6. Auto-Fix DevSecOps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Parcheo determinístico y asistido por IA con integración a GitLab MR.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4. Estándares y Marcos Normativos Cubiertos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Mapeo automático de auditoría y cumplimiento corporativo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STRIDE Threat Model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Spoofing (JWT RS256/Ed25519 vs HS256), Tampering, Repudiation (bitácora inmutable), Information Disclosure, DoS y Elevation of Privilege.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ISO/IEC 25010 &amp; ISO 27001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Calidad de software (Complejidad Cognitiva &lt; 15) y Controles A.5.15 (Acceso), A.8.9 (Configuración), A.8.24 (Criptografía), A.8.28 (Codificación Segura).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NIST SP 800-53 &amp; PCI-DSS v4.0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Controles AC-3, CM-6, SI-10, AU-3, SC-8 / Requerimientos 2.2 (Hardening), 6.5.1 (Injection Flaws) y 10.2 (Auditoría Automatizada).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SOC 2 Type II &amp; GDPR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Criterios CC6.1 (Acceso Lógico), CC6.8 (Hardening), CC7.2 (Monitoreo) y Cumplimiento Art. 30/32 (Registro de Actividades y Cifrado PII).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5. Taxonomía de Hallazgos y Amenazas Cubiertas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Identificación y trazabilidad de vectores de ataque por motor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ZAP-NNNNN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Plugin ID oficial OWASP ZAP (ej: ZAP-10015 Incomplete Cache-Control, cabeceras ausentes, XSS).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SCA-CVE-YYYY-NNNNN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Vulnerabilidades en dependencias sincronizadas en vivo con OSV.dev (ej: Express, PyYAML).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CODE / CMD / SQL / SSRF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Reglas del motor SAST nativo (ej: CODE-INJECTION-EVAL, concatenación de SQL dinámico).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DOCKER / IaC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Hardening de infraestructura (ej: DOCKER-MISSING-NON-ROOT-USER, buckets S3 públicos).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STD-STRIDE / ISO25010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Violaciones arquitectónicas y calidad de software (ej: STD-STRIDE-JWT-INSECURE-ALG).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CTI-IOC / ITDR / eBPF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Vectores runtime (Password Spraying en Authentik, C2 IPs activas de Feodo Tracker, syscalls Linux).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6. Correlación de Riesgo (CRS) y Motor IA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Cálculo de criticidad y resiliencia multi-proveedor de 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Centinela Risk Score (CRS)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Puntuación 0-100 por hallazgo. Combina la severidad CVSS con probabilidad de explotación real (EPSS de FIRST.org en vivo), CISA KEV (ataques confirmados en el mundo) y la criticidad del activo.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Cadena Multi-Proveedor LLM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Cadena de resiliencia con fallback automático en cada llamada:</a:t>
            </a:r>
            <a:br/>
            <a:r>
              <a:t>Groq → Google Gemini → NVIDIA NIM → OpenRouter → Motor Heurístico Determinístico.</a:t>
            </a:r>
            <a:br/>
            <a:r>
              <a:t>Garantiza disponibilidad constante si una API agota cuota.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Validación Estricta de Parches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La IA genera diffs unificados (`git apply`) o scripts Bash. Centinela valida que la respuesta no sea texto de relleno (`... script provisto`); si la calidad es baja, cae automáticamente al motor determinístico.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7. Funcionamiento del SOAR 2.0 y Remediación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Flujo de ejecución defensiva automatizada con Human-in-the-Loop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1. Evaluación de Confianza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Si la confianza del parche es ≥95% (Virtual Patching Nginx / Revocación Authentik), se ejecuta respuesta inmediata. Si es &lt;95%, requiere aprobación 1-click.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2. Remediación en Servidores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Sentinel se autentica vía Vault (credenciales SSH/sudo dedicadas `NOPASSWD` acotadas) y ejecuta Playbooks de Ansible. Si el comando falla, el estado se marca `FAILED`.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3. Remediación en GitLab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Sentinel clona el repositorio, aplica el diff unificado en una rama `centinela-fix/*` y abre un Merge Request formal con detalles normativos. NUNCA hace push directo a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4. Trazabilidad Inmutable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Todo evento de remediación se registra en PostgreSQL y auditoría STRIDE, garantizando no-repudio y visibilidad completa para los auditores de seguridad.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8. Beneficios Organizacionales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aporta su uso a cada rol en la empresa?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👔 Para la Dirección / C-Level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Reducción radical del riesgo de brechas.</a:t>
            </a:r>
            <a:br/>
            <a:r>
              <a:t>• Ahorro directo por consolidación de herramientas.</a:t>
            </a:r>
            <a:br/>
            <a:r>
              <a:t>• Reportes ejecutivos de cumplimiento (ISO/NIST/PCI).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🛡️ Para Líder de Equipo / SOC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Tablero unificado Single-Pane-of-Glass.</a:t>
            </a:r>
            <a:br/>
            <a:r>
              <a:t>• Priorización basada en riesgo real (EPSS/KEV).</a:t>
            </a:r>
            <a:br/>
            <a:r>
              <a:t>• Quality Gates para pipelines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💻 Para el Equipo de Desarrollo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Fricción cero: Parches mediante MRs formales.</a:t>
            </a:r>
            <a:br/>
            <a:r>
              <a:t>• Explicaciones didácticas en cada MR.</a:t>
            </a:r>
            <a:br/>
            <a:r>
              <a:t>• Detección temprana en el ciclo DevSecOps.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9. Estrategia de Comercialización Futura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¿Cómo monetizar Centinela-AI como Producto B2B?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☁️ SaaS Enterprise (Cloud)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Suscripción mensual/anual basada en la cantidad de activos monitoreados (repositorios, servidores, contenedores).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🏢 Enterprise On-Premise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Licenciamiento anual para sectores regulados (Banca, Gobierno, Salud) con despliegue local o Air-Gapped.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🤝 Partner MSSP Program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Modelo Multitenant para consultoras de ciberseguridad que ofrecen servicios SOC/DevSecOps gestionados.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A5E9"/>
                </a:solidFill>
              </a:defRPr>
            </a:pPr>
            <a:r>
              <a:t>🎯 CONCLUSIÓN Y PRÓXIMOS PASOS</a:t>
            </a:r>
          </a:p>
          <a:p>
            <a:br/>
            <a:pPr algn="ctr">
              <a:defRPr sz="1600">
                <a:solidFill>
                  <a:srgbClr val="F8FAFC"/>
                </a:solidFill>
              </a:defRPr>
            </a:pPr>
            <a:r>
              <a:t>Centinela-AI no solo protege la infraestructura actual de la organización reduciendo costos operativos, sino que constituye un activo tecnológico estratégico con alto valor comercial B2B.</a:t>
            </a:r>
          </a:p>
          <a:p>
            <a:br/>
            <a:pPr algn="ctr">
              <a:defRPr sz="1500" b="1">
                <a:solidFill>
                  <a:srgbClr val="6366F1"/>
                </a:solidFill>
              </a:defRPr>
            </a:pPr>
            <a:r>
              <a:t>Solicitamos la aprobación de los Directivos para avanzar en la Fase 2 del desarrollo: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1. Conectores nativos multi-nube (AWS, GCP, Azure)</a:t>
            </a:r>
            <a:br/>
            <a:r>
              <a:t>2. Arquitectura Multi-Tenancy para comercialización SaaS</a:t>
            </a:r>
            <a:br/>
            <a:r>
              <a:t>3. Proceso de certificación SOC 2 Type II e ISO 27001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