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64592" cy="1280160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8B09A"/>
                </a:solidFill>
                <a:latin typeface="Calibri"/>
              </a:rPr>
              <a:t>PLATAFORMA SOC / SOAR CON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889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Centinela-AI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7D2E0"/>
                </a:solidFill>
                <a:latin typeface="Calibri"/>
              </a:rPr>
              <a:t>Ciberseguridad continua, correlacionada por IA, con remediación asistida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78C"/>
                </a:solidFill>
                <a:latin typeface="Calibri"/>
              </a:rPr>
              <a:t>Presentación Ejecutiva  ·  Actualizado 11 de agosto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1. ORIGEN Y PROPÓSITO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¿Qué es Centinela-AI y por qué se creó?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El problema que existía 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33D4D"/>
                </a:solidFill>
                <a:latin typeface="Calibri"/>
              </a:rPr>
              <a:t>Casmarts operaba con más de una decena de herramientas de seguridad desconectadas entre sí — cada una con su propio panel, su propio formato y nadie que las leyera todas juntas. El resultado: vulnerabilidades reales tardaban semanas en detectarse y, aun detectadas, tardaban semanas más en corregirse porque nadie tenía tiempo de revisar manualmente cientos de alertas técnicas.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33D4D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33D4D"/>
                </a:solidFill>
                <a:latin typeface="Calibri"/>
              </a:rPr>
              <a:t>Centinela-AI nació para resolver exactamente eso: un solo sistema que vigila toda la infraestructura, entiende qué tan grave es cada hallazgo, y propone (o aplica, con aprobación humana) la corrección — en vez de sumar una herramienta más a la pila.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54480"/>
            <a:ext cx="5349240" cy="4480560"/>
          </a:xfrm>
          <a:prstGeom prst="roundRect">
            <a:avLst>
              <a:gd name="adj" fmla="val 6000"/>
            </a:avLst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7830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8B09A"/>
                </a:solidFill>
                <a:latin typeface="Calibri"/>
              </a:rPr>
              <a:t>En una frase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FFFFFF"/>
                </a:solidFill>
                <a:latin typeface="Calibri"/>
              </a:rPr>
              <a:t>Centinela-AI es el vigilante permanente de la seguridad de Casmarts: encuentra los puntos débiles, entiende qué tan urgentes son, y ayuda a corregirlos — todo en un solo lugar.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7490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2A11D"/>
                </a:solidFill>
                <a:latin typeface="Calibri"/>
              </a:rPr>
              <a:t>Lo que reemplaza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1605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CF2"/>
                </a:solidFill>
                <a:latin typeface="Calibri"/>
              </a:rPr>
              <a:t>✕  10-15 herramientas de escaneo desconectadas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6634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CF2"/>
                </a:solidFill>
                <a:latin typeface="Calibri"/>
              </a:rPr>
              <a:t>✕  Revisión manual de alertas técnicas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1663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CF2"/>
                </a:solidFill>
                <a:latin typeface="Calibri"/>
              </a:rPr>
              <a:t>✕  Semanas de espera entre detección y corrección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2. FUNCIONAMIENTO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¿Cómo trabaja Centinela-AI, en 4 pasos?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26974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Vigila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Revisa continuamente servidores, bases de datos, aplicaciones y repositorios de código en busca de puntos débiles.</a:t>
            </a:r>
          </a:p>
        </p:txBody>
      </p:sp>
      <p:sp>
        <p:nvSpPr>
          <p:cNvPr id="9" name="Chevron 8"/>
          <p:cNvSpPr/>
          <p:nvPr/>
        </p:nvSpPr>
        <p:spPr>
          <a:xfrm>
            <a:off x="3218688" y="3703320"/>
            <a:ext cx="219456" cy="365760"/>
          </a:xfrm>
          <a:prstGeom prst="chevron">
            <a:avLst/>
          </a:prstGeom>
          <a:solidFill>
            <a:srgbClr val="6B77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10712" y="1691640"/>
            <a:ext cx="26974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39312" y="1965960"/>
            <a:ext cx="640080" cy="640080"/>
          </a:xfrm>
          <a:prstGeom prst="ellipse">
            <a:avLst/>
          </a:prstGeom>
          <a:solidFill>
            <a:srgbClr val="F2A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278892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Entiende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38328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Una Inteligencia Artificial analiza cada hallazgo: qué tan grave es, qué tan probable es que lo exploten, y qué impacto real tendría.</a:t>
            </a:r>
          </a:p>
        </p:txBody>
      </p:sp>
      <p:sp>
        <p:nvSpPr>
          <p:cNvPr id="14" name="Chevron 13"/>
          <p:cNvSpPr/>
          <p:nvPr/>
        </p:nvSpPr>
        <p:spPr>
          <a:xfrm>
            <a:off x="6080760" y="3703320"/>
            <a:ext cx="219456" cy="365760"/>
          </a:xfrm>
          <a:prstGeom prst="chevron">
            <a:avLst/>
          </a:prstGeom>
          <a:solidFill>
            <a:srgbClr val="6B77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01384" y="1965960"/>
            <a:ext cx="640080" cy="640080"/>
          </a:xfrm>
          <a:prstGeom prst="ellipse">
            <a:avLst/>
          </a:prstGeom>
          <a:solidFill>
            <a:srgbClr val="8E5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78892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Propone la corrección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38328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Genera el parche exacto o el script de corrección — no una recomendación genérica, sino la solución lista para aplicar.</a:t>
            </a:r>
          </a:p>
        </p:txBody>
      </p:sp>
      <p:sp>
        <p:nvSpPr>
          <p:cNvPr id="19" name="Chevron 18"/>
          <p:cNvSpPr/>
          <p:nvPr/>
        </p:nvSpPr>
        <p:spPr>
          <a:xfrm>
            <a:off x="8942832" y="3703320"/>
            <a:ext cx="219456" cy="365760"/>
          </a:xfrm>
          <a:prstGeom prst="chevron">
            <a:avLst/>
          </a:prstGeom>
          <a:solidFill>
            <a:srgbClr val="6B77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34856" y="1691640"/>
            <a:ext cx="26974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63456" y="1965960"/>
            <a:ext cx="640080" cy="640080"/>
          </a:xfrm>
          <a:prstGeom prst="ellipse">
            <a:avLst/>
          </a:prstGeom>
          <a:solidFill>
            <a:srgbClr val="E0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278892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Corrige con aprobación humana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7736" y="338328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Un responsable aprueba con un clic. Centinela-AI aplica el cambio y deja registro completo de quién, qué y cuándo.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3. COBERTURA TÉCNICA (PARTE 1 DE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¿Qué revisa Centinela-AI?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5623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745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Código fuente (SAST)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Analiza el código de cada aplicación en busca de errores de programación peligrosos.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inyecciones SQL, comandos del sistema expuestos, contraseñas escritas directamente en el código.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9164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85623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18745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Componentes externos (SCA)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688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Revisa las librerías de terceros que usa cada aplicación.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546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versiones con vulnerabilidades públicas ya conocidas y documentadas.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3192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96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148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Aplicaciones en producción (DAST)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Ataca de forma controlada las aplicaciones ya publicadas, como lo haría un atacante real.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3949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cabeceras de seguridad faltantes, fugas de información, configuraciones inseguras del sitio web.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393192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096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🗄️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1148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Bases de datos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Verifica que las bases de datos estén correctamente cifradas y protegidas.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949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conexiones sin cifrado, puertos expuestos a la red abierta.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3. COBERTURA TÉCNICA (PARTE 2 DE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¿Qué más revisa Centinela-AI?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5623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🖥️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745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Servidores (EDR)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Un agente instalado en cada servidor vigila su actividad en tiempo real.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procesos sospechosos, accesos indebidos, cambios no autorizados.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9164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85623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🕸️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18745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Tráfico de red (NDR)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688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Observa las conexiones de red en busca de comunicación con servidores maliciosos conocidos.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546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conexiones hacia infraestructura de atacantes (Comando y Control).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3192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96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148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Secretos y credenciales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Busca contraseñas, llaves y tokens olvidados dentro del código o archivos de configuración.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3949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credenciales de bases de datos, API keys y llaves privadas expuestas por error.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393192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096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B1E3D"/>
                </a:solidFill>
                <a:latin typeface="Calibri"/>
              </a:rPr>
              <a:t>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1148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E3D"/>
                </a:solidFill>
                <a:latin typeface="Calibri"/>
              </a:rPr>
              <a:t>Infraestructura como código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Revisa los archivos de configuración de servidores y contenedores antes de que se usen.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949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8B09A"/>
                </a:solidFill>
                <a:latin typeface="Calibri"/>
              </a:rPr>
              <a:t>Detecta: contenedores con privilegios excesivos, bases de datos configuradas como públicas.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4. CORRECCIÓN AUTOMATIZADA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¿Cómo corrige la IA las vulnerabilidades?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2A11D"/>
                </a:solidFill>
                <a:latin typeface="Calibri"/>
              </a:rPr>
              <a:t>Ningún cambio se aplica sin que una persona lo apruebe primero.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194560"/>
            <a:ext cx="320040" cy="320040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0956" y="2514600"/>
            <a:ext cx="18288" cy="457200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Se detecta el 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121408"/>
            <a:ext cx="6766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C7D2E0"/>
                </a:solidFill>
                <a:latin typeface="Calibri"/>
              </a:rPr>
              <a:t>Cualquiera de los 10+ motores de escaneo encuentra una vulnerabilidad real.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035808"/>
            <a:ext cx="320040" cy="320040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0956" y="3355848"/>
            <a:ext cx="18288" cy="457200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9443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 IA la analiza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962656"/>
            <a:ext cx="6766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C7D2E0"/>
                </a:solidFill>
                <a:latin typeface="Calibri"/>
              </a:rPr>
              <a:t>4 proveedores de Inteligencia Artificial en cadena (si uno falla, el siguiente responde) generan el diagnóstico y la corrección exacta.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877056"/>
            <a:ext cx="320040" cy="320040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56" y="4197096"/>
            <a:ext cx="18288" cy="457200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78561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Se genera la corrección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803904"/>
            <a:ext cx="6766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C7D2E0"/>
                </a:solidFill>
                <a:latin typeface="Calibri"/>
              </a:rPr>
              <a:t>Un script de servidor, o un parche de código listo para aplicarse como cambio en el repositorio (Merge Request).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718304"/>
            <a:ext cx="320040" cy="320040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" y="5038344"/>
            <a:ext cx="18288" cy="457200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462686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Una persona aprueba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4645152"/>
            <a:ext cx="6766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C7D2E0"/>
                </a:solidFill>
                <a:latin typeface="Calibri"/>
              </a:rPr>
              <a:t>El hallazgo aparece en el panel con su explicación en lenguaje claro. Un responsable revisa y aprueba con un clic.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5559552"/>
            <a:ext cx="320040" cy="320040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4681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Se aplica y se registra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486400"/>
            <a:ext cx="6766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C7D2E0"/>
                </a:solidFill>
                <a:latin typeface="Calibri"/>
              </a:rPr>
              <a:t>El sistema ejecuta el cambio y guarda un historial permanente: qué se hizo, cuándo, y quién lo aprobó.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5. ESTÁNDARES — PROCESOS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CMMI v3.0: ¿qué mide y por qué importa?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B778C"/>
                </a:solidFill>
                <a:latin typeface="Calibri"/>
              </a:rPr>
              <a:t>CMMI no es una herramienta de seguridad — es una forma de medir qué tan maduro y confiable es el proceso con el que se construye el software.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¿Qué 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12140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Un modelo internacional (Capability Maturity Model Integration) que califica de 1 a 5 qué tan repetible, disciplinado y confiable es el proceso de desarrollo de software de una organización.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6324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06324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7296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¿Por qué le importa a un cliente o auditor?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17296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Un proveedor con procesos maduros comete menos errores, los corrige más rápido y deja evidencia de cada cambio — reduce el riesgo de contratarlo.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1480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2452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¿Cómo lo mide Centinela-AI?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22452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De forma automática y objetiva, revisando el código real de cada proyecto: ¿se manejan bien los errores? ¿hay tareas pendientes sin resolver? ¿se controla la calidad del código? — no es una autoevaluación, son datos reales.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6636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16636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27608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Estado actual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27608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El motor de auditoría CMMI está activo y evaluando los repositorios de código reales de la organización, atribuyendo cada hallazgo al proyecto exacto donde ocurre.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B778C"/>
                </a:solidFill>
                <a:latin typeface="Calibri"/>
              </a:rPr>
              <a:t>CAR = análisis de causa raíz de errores  ·  MSR = medición de desempeño  ·  PQA = aseguramiento de calidad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5. ESTÁNDARES — SEGURIDAD Y CALIDAD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ISO 27001 e ISO 25010: ¿qué miden?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B778C"/>
                </a:solidFill>
                <a:latin typeface="Calibri"/>
              </a:rPr>
              <a:t>Dos normas internacionales distintas: una mide la seguridad de la información, la otra la calidad del software.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ISO/IEC 27001 — Seguridad de la información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12140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El estándar internacional más reconocido para gestionar la seguridad de la información. Certificarse en ISO 27001 es, para muchos clientes corporativos y de gobierno, un requisito para hacer negocios.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6324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06324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7296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ISO/IEC 25010 — Calidad del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17296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Define qué hace que un software sea 'bueno' más allá de que funcione: que sea mantenible, seguro, confiable y fácil de modificar sin romper otras partes.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1480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2452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¿Cómo ayuda Centinela-AI a cumplirlas?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22452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Cada hallazgo que detecta y corrige — una contraseña expuesta, un servidor sin parches, una configuración insegura — es evidencia directa y verificable de estos controles, sin necesidad de auditorías manuales costosas.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66360"/>
            <a:ext cx="1110996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166360"/>
            <a:ext cx="91440" cy="896112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276088"/>
            <a:ext cx="2926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1E3D"/>
                </a:solidFill>
                <a:latin typeface="Calibri"/>
              </a:rPr>
              <a:t>Estado actual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276088"/>
            <a:ext cx="7589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444E5E"/>
                </a:solidFill>
                <a:latin typeface="Calibri"/>
              </a:rPr>
              <a:t>Cobertura real y verificable en los controles de gestión de vulnerabilidades y monitoreo continuo. La certificación oficial (auditoría externa acreditada) es el siguiente paso, no un estado ya alcanzado.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B778C"/>
                </a:solidFill>
                <a:latin typeface="Calibri"/>
              </a:rPr>
              <a:t>Centinela-AI mapea automáticamente cada hallazgo real a los controles normativos correspondientes (ISO 27001, NIST, MITRE ATT&amp;CK).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6. ESTADO ACTUAL — CON DATOS REALES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¿Dónde está el proyecto hoy?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6B778C"/>
                </a:solidFill>
                <a:latin typeface="Calibri"/>
              </a:rPr>
              <a:t>Cifras verificadas en vivo contra el sistema en producción, 11 de agosto de 2026.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661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82296" cy="1508760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6712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7063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E3D"/>
                </a:solidFill>
                <a:latin typeface="Calibri"/>
              </a:rPr>
              <a:t>Activos monitoreados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99815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78C"/>
                </a:solidFill>
                <a:latin typeface="Calibri"/>
              </a:rPr>
              <a:t>servidores, bases de datos y repositorios de código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057400"/>
            <a:ext cx="35661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2057400"/>
            <a:ext cx="82296" cy="1508760"/>
          </a:xfrm>
          <a:prstGeom prst="rect">
            <a:avLst/>
          </a:prstGeom>
          <a:solidFill>
            <a:srgbClr val="F2A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6712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3,448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77063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E3D"/>
                </a:solidFill>
                <a:latin typeface="Calibri"/>
              </a:rPr>
              <a:t>Hallazgos reales activos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099815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78C"/>
                </a:solidFill>
                <a:latin typeface="Calibri"/>
              </a:rPr>
              <a:t>cifra corregida tras eliminar ~14,000 duplicados técnicos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057400"/>
            <a:ext cx="35661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2057400"/>
            <a:ext cx="82296" cy="1508760"/>
          </a:xfrm>
          <a:prstGeom prst="rect">
            <a:avLst/>
          </a:prstGeom>
          <a:solidFill>
            <a:srgbClr val="E0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16712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223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77063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E3D"/>
                </a:solidFill>
                <a:latin typeface="Calibri"/>
              </a:rPr>
              <a:t>Hallazgos críticos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099815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78C"/>
                </a:solidFill>
                <a:latin typeface="Calibri"/>
              </a:rPr>
              <a:t>requieren atención prioritaria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49040"/>
            <a:ext cx="35661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749040"/>
            <a:ext cx="82296" cy="1508760"/>
          </a:xfrm>
          <a:prstGeom prst="rect">
            <a:avLst/>
          </a:prstGeom>
          <a:solidFill>
            <a:srgbClr val="E0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5876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4622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E3D"/>
                </a:solidFill>
                <a:latin typeface="Calibri"/>
              </a:rPr>
              <a:t>Vulnerabilidades de explotación confirmada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791455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78C"/>
                </a:solidFill>
                <a:latin typeface="Calibri"/>
              </a:rPr>
              <a:t>según el catálogo oficial CISA KEV (EE.UU.)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749040"/>
            <a:ext cx="35661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3749040"/>
            <a:ext cx="82296" cy="1508760"/>
          </a:xfrm>
          <a:prstGeom prst="rect">
            <a:avLst/>
          </a:prstGeom>
          <a:solidFill>
            <a:srgbClr val="F2A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85876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4622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E3D"/>
                </a:solidFill>
                <a:latin typeface="Calibri"/>
              </a:rPr>
              <a:t>Plazos de corrección vencidos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791455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78C"/>
                </a:solidFill>
                <a:latin typeface="Calibri"/>
              </a:rPr>
              <a:t>(SLA) — ya calculados y visibles para cada hallazgo crítico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3749040"/>
            <a:ext cx="35661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20" y="3749040"/>
            <a:ext cx="82296" cy="1508760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385876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4622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E3D"/>
                </a:solidFill>
                <a:latin typeface="Calibri"/>
              </a:rPr>
              <a:t>Proveedores de IA en cadena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791455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78C"/>
                </a:solidFill>
                <a:latin typeface="Calibri"/>
              </a:rPr>
              <a:t>para que el análisis nunca dependa de uno solo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B778C"/>
                </a:solidFill>
                <a:latin typeface="Calibri"/>
              </a:rPr>
              <a:t>Nota de transparencia: la cifra de hallazgos bajó de forma importante tras corregir un error técnico que generaba duplicados — no porque desaparecieran riesgos reales.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7. VALOR POR 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¿Qué le aporta a cada área de la empresa?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0B1E3D"/>
                </a:solidFill>
                <a:latin typeface="Calibri"/>
              </a:rPr>
              <a:t>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Dirección / Comité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108960"/>
            <a:ext cx="201168" cy="201168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05409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Reduce el riesgo real de un incidente costoso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886200"/>
            <a:ext cx="201168" cy="201168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83133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Un solo panel, sin depender de reportes dispersos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663440"/>
            <a:ext cx="201168" cy="201168"/>
          </a:xfrm>
          <a:prstGeom prst="ellipse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60857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Evidencia lista para clientes y auditores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73736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9202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0B1E3D"/>
                </a:solidFill>
                <a:latin typeface="Calibri"/>
              </a:rPr>
              <a:t>🛡️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51460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Equipo de Seguridad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201168" cy="201168"/>
          </a:xfrm>
          <a:prstGeom prst="ellipse">
            <a:avLst/>
          </a:prstGeom>
          <a:solidFill>
            <a:srgbClr val="F2A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0" y="305409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Prioriza automáticamente qué atender primero</a:t>
            </a:r>
          </a:p>
        </p:txBody>
      </p:sp>
      <p:sp>
        <p:nvSpPr>
          <p:cNvPr id="19" name="Oval 18"/>
          <p:cNvSpPr/>
          <p:nvPr/>
        </p:nvSpPr>
        <p:spPr>
          <a:xfrm>
            <a:off x="4617720" y="3886200"/>
            <a:ext cx="201168" cy="201168"/>
          </a:xfrm>
          <a:prstGeom prst="ellipse">
            <a:avLst/>
          </a:prstGeom>
          <a:solidFill>
            <a:srgbClr val="F2A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0" y="383133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Deja de perseguir alertas repetidas o falsas</a:t>
            </a:r>
          </a:p>
        </p:txBody>
      </p:sp>
      <p:sp>
        <p:nvSpPr>
          <p:cNvPr id="21" name="Oval 20"/>
          <p:cNvSpPr/>
          <p:nvPr/>
        </p:nvSpPr>
        <p:spPr>
          <a:xfrm>
            <a:off x="4617720" y="4663440"/>
            <a:ext cx="201168" cy="201168"/>
          </a:xfrm>
          <a:prstGeom prst="ellipse">
            <a:avLst/>
          </a:prstGeom>
          <a:solidFill>
            <a:srgbClr val="F2A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0" y="460857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Historial completo de cada corrección aplicada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173736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19202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0B1E3D"/>
                </a:solidFill>
                <a:latin typeface="Calibri"/>
              </a:rPr>
              <a:t>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51460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Equipo de Desarrollo</a:t>
            </a:r>
          </a:p>
        </p:txBody>
      </p:sp>
      <p:sp>
        <p:nvSpPr>
          <p:cNvPr id="26" name="Oval 25"/>
          <p:cNvSpPr/>
          <p:nvPr/>
        </p:nvSpPr>
        <p:spPr>
          <a:xfrm>
            <a:off x="8412480" y="3108960"/>
            <a:ext cx="201168" cy="201168"/>
          </a:xfrm>
          <a:prstGeom prst="ellipse">
            <a:avLst/>
          </a:prstGeom>
          <a:solidFill>
            <a:srgbClr val="8E5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05409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Recibe el parche ya hecho, no solo la alerta</a:t>
            </a:r>
          </a:p>
        </p:txBody>
      </p:sp>
      <p:sp>
        <p:nvSpPr>
          <p:cNvPr id="28" name="Oval 27"/>
          <p:cNvSpPr/>
          <p:nvPr/>
        </p:nvSpPr>
        <p:spPr>
          <a:xfrm>
            <a:off x="8412480" y="3886200"/>
            <a:ext cx="201168" cy="201168"/>
          </a:xfrm>
          <a:prstGeom prst="ellipse">
            <a:avLst/>
          </a:prstGeom>
          <a:solidFill>
            <a:srgbClr val="8E5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32520" y="383133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Se integra como un cambio normal (Merge Request)</a:t>
            </a:r>
          </a:p>
        </p:txBody>
      </p:sp>
      <p:sp>
        <p:nvSpPr>
          <p:cNvPr id="30" name="Oval 29"/>
          <p:cNvSpPr/>
          <p:nvPr/>
        </p:nvSpPr>
        <p:spPr>
          <a:xfrm>
            <a:off x="8412480" y="4663440"/>
            <a:ext cx="201168" cy="201168"/>
          </a:xfrm>
          <a:prstGeom prst="ellipse">
            <a:avLst/>
          </a:prstGeom>
          <a:solidFill>
            <a:srgbClr val="8E5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32520" y="460857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44E5E"/>
                </a:solidFill>
                <a:latin typeface="Calibri"/>
              </a:rPr>
              <a:t>Menos tiempo perdido investigando falsos positivos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8B09A"/>
                </a:solidFill>
                <a:latin typeface="Calibri"/>
              </a:rPr>
              <a:t>RESUMEN PARA LA JUNTA DIRECTIVA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Lo esencial en una sola idea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9418320" cy="2377440"/>
          </a:xfrm>
          <a:prstGeom prst="roundRect">
            <a:avLst>
              <a:gd name="adj" fmla="val 6000"/>
            </a:avLst>
          </a:prstGeom>
          <a:solidFill>
            <a:srgbClr val="14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423160"/>
            <a:ext cx="8503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Centinela-AI unifica en una sola plataforma soberana (sin enviar datos a la nube de terceros) lo que a otras empresas les toma comprar entre 3 y 4 productos distintos: detección de vulnerabilidades, monitoreo de servidores, cumplimiento normativo y corrección automatizada con supervisión humana.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75488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C7D2E0"/>
                </a:solidFill>
                <a:latin typeface="Calibri"/>
              </a:rPr>
              <a:t>Próximo paso recomendado: certificación externa formal (SOC 2 / ISO 27001) para convertir la cobertura técnica ya alcanzada en una certificación oficial reconocible por clientes.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64592" cy="1280160"/>
          </a:xfrm>
          <a:prstGeom prst="rect">
            <a:avLst/>
          </a:prstGeom>
          <a:solidFill>
            <a:srgbClr val="18B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7D2E0"/>
                </a:solidFill>
                <a:latin typeface="Calibri"/>
              </a:rPr>
              <a:t>Centinela-AI: ciberseguridad continua, entendible y accionable.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78C"/>
                </a:solidFill>
                <a:latin typeface="Calibri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